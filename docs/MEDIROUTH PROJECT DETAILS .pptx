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28808F0-295E-EE52-0B12-55B259927B66}">
          <p14:sldIdLst>
            <p14:sldId id="256"/>
            <p14:sldId id="257"/>
          </p14:sldIdLst>
        </p14:section>
        <p14:section name="Need" id="{053FAC72-EC3E-9B34-D8AF-3855C01D38C7}">
          <p14:sldIdLst>
            <p14:sldId id="258"/>
            <p14:sldId id="259"/>
            <p14:sldId id="260"/>
          </p14:sldIdLst>
        </p14:section>
        <p14:section name="Solution" id="{4B01072D-BA67-8811-1D00-E21DDD024640}">
          <p14:sldIdLst>
            <p14:sldId id="261"/>
            <p14:sldId id="262"/>
            <p14:sldId id="263"/>
            <p14:sldId id="264"/>
            <p14:sldId id="265"/>
          </p14:sldIdLst>
        </p14:section>
        <p14:section name="Patentability" id="{894AD316-9E81-1476-1D6F-05AC06F8EA1D}">
          <p14:sldIdLst>
            <p14:sldId id="266"/>
            <p14:sldId id="267"/>
            <p14:sldId id="268"/>
            <p14:sldId id="269"/>
            <p14:sldId id="270"/>
          </p14:sldIdLst>
        </p14:section>
        <p14:section name="Close" id="{E4F5F5C9-2CEF-40C4-BFAE-5939DE57C87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637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title and the purpose: seeking expert guidance on patenting this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 one breath: nurse presses a room switch, robot finds the room by counting floor columns, delivers, and returns Home when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move supplies by hand. This costs nurse time, causes delays and spreads infection between 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options hospitals have today. Each leaves a gap that our robot targets. The prior-art patent search is still to be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gaps: cost, complexity, usability (choosing a room and coming back) and safety while reversing.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steps, then the track: each column serves a left and a right room. Odd rooms turn right, even rooms turn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a single ATmega328P (Arduino UNO). Inputs on the left, outputs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driven wheels at the back give differential steering. The front wheel is a passive ball-transfer unit that only supports the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Specifications taken from the project report appendix. Offer to share the circuit diagram and CAD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that work together. The first three are the heart of the invention. Each replaces something existing robots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tests: novelty, inventive step, industrial applicability, technical effect. Be clear that the prior-art search is pending, so these are arguments to test with the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first draft to discuss, not final wording. The independent claim lists the parts and what the controller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columns describe typical systems, not specific patents.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was built and tested on a 3-column track. CAD views and the circuit diagram can become patent drawings.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these questions to the expert. Public disclosure before filing is important because review presentations are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IPR Level 1  |  Autonomous Medical Supply Delivery Robot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297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IPR LEVEL 1  |  INTERACTION WITH INVENTORS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Autonomous Medical Supply Delivery Robot for Hospitals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A low-cost robot that carries medicines to a selected room and returns home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300" b="1" dirty="0">
                <a:solidFill>
                  <a:schemeClr val="accent3"/>
                </a:solidFill>
              </a:rPr>
              <a:t>Inventor: : </a:t>
            </a:r>
            <a:r>
              <a:rPr lang="en-US" sz="1300" dirty="0">
                <a:solidFill>
                  <a:schemeClr val="bg1"/>
                </a:solidFill>
              </a:rPr>
              <a:t>BHUVANAN M, </a:t>
            </a:r>
            <a:r>
              <a:rPr lang="en-IN" sz="1300" dirty="0">
                <a:solidFill>
                  <a:schemeClr val="bg1"/>
                </a:solidFill>
              </a:rPr>
              <a:t>DHARANESHWARAN B, ARAVINTH R, AMBIKA B </a:t>
            </a:r>
          </a:p>
          <a:p>
            <a:pPr>
              <a:spcAft>
                <a:spcPts val="200"/>
              </a:spcAft>
            </a:pPr>
            <a:r>
              <a:rPr lang="en-US" sz="1300" b="1" dirty="0">
                <a:solidFill>
                  <a:schemeClr val="accent3"/>
                </a:solidFill>
              </a:rPr>
              <a:t>Mentor: </a:t>
            </a:r>
            <a:r>
              <a:rPr lang="en-US" sz="1300" dirty="0">
                <a:solidFill>
                  <a:schemeClr val="bg1"/>
                </a:solidFill>
              </a:rPr>
              <a:t>Mr. A. Kamalakkannan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Knowledge Institute of Technology, Salem  |  06-10-2026</a:t>
            </a:r>
            <a:endParaRPr lang="en-US" sz="1300" dirty="0"/>
          </a:p>
        </p:txBody>
      </p:sp>
      <p:pic>
        <p:nvPicPr>
          <p:cNvPr id="6" name="Image 0" descr="Working prototype of the delivery robot on its tes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this project?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robot that carries medicines to the room a nurse selects, and comes back on command.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44261"/>
            <a:ext cx="4480560" cy="9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An indoor differential-drive robot: two rear 12 V DC gear motors, a front ball-transfer wheel and an </a:t>
            </a:r>
            <a:r>
              <a:rPr lang="en-US" sz="1400" dirty="0"/>
              <a:t>Arduino UNO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</a:rPr>
              <a:t>controller. IR column sensing finds the room; no camera, map or SLAM.</a:t>
            </a:r>
            <a:endParaRPr lang="en-US" sz="1400" dirty="0"/>
          </a:p>
        </p:txBody>
      </p:sp>
      <p:sp>
        <p:nvSpPr>
          <p:cNvPr id="6" name="Stat card 1"/>
          <p:cNvSpPr/>
          <p:nvPr/>
        </p:nvSpPr>
        <p:spPr>
          <a:xfrm>
            <a:off x="457200" y="3703320"/>
            <a:ext cx="1417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3749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6+ rooms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selectable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destinations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1965960" y="3703320"/>
            <a:ext cx="1417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65960" y="3749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Return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to starting point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option</a:t>
            </a:r>
            <a:endParaRPr lang="en-US" sz="1200" dirty="0"/>
          </a:p>
        </p:txBody>
      </p:sp>
      <p:sp>
        <p:nvSpPr>
          <p:cNvPr id="12" name="Stat card 3"/>
          <p:cNvSpPr/>
          <p:nvPr/>
        </p:nvSpPr>
        <p:spPr>
          <a:xfrm>
            <a:off x="3474720" y="3703320"/>
            <a:ext cx="1417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3749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Indoor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114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hospital corridor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robot</a:t>
            </a:r>
            <a:endParaRPr lang="en-US" sz="1200" dirty="0"/>
          </a:p>
        </p:txBody>
      </p:sp>
      <p:pic>
        <p:nvPicPr>
          <p:cNvPr id="15" name="Image 0" descr="Prototype on the tes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43000"/>
            <a:ext cx="3474720" cy="2743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120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Working prototype on the test track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Staff workload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Nurses and helpers walk supplies between store and wards, time that belongs to patients.</a:t>
            </a:r>
            <a:endParaRPr lang="en-US" sz="1400" dirty="0"/>
          </a:p>
        </p:txBody>
      </p:sp>
      <p:sp>
        <p:nvSpPr>
          <p:cNvPr id="9" name="Problem card 2"/>
          <p:cNvSpPr/>
          <p:nvPr/>
        </p:nvSpPr>
        <p:spPr>
          <a:xfrm>
            <a:off x="324612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Delayed delivery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Manual transport is slow and uneven at peak hours and during staff shortages.</a:t>
            </a:r>
            <a:endParaRPr lang="en-US" sz="1400" dirty="0"/>
          </a:p>
        </p:txBody>
      </p:sp>
      <p:sp>
        <p:nvSpPr>
          <p:cNvPr id="14" name="Problem card 3"/>
          <p:cNvSpPr/>
          <p:nvPr/>
        </p:nvSpPr>
        <p:spPr>
          <a:xfrm>
            <a:off x="603504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Infection risk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828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people moving between wards can carry infection, especially in outbreaks.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Today's manual flow</a:t>
            </a:r>
            <a:endParaRPr lang="en-US" sz="1300" dirty="0"/>
          </a:p>
        </p:txBody>
      </p:sp>
      <p:sp>
        <p:nvSpPr>
          <p:cNvPr id="20" name="Flow 1"/>
          <p:cNvSpPr/>
          <p:nvPr/>
        </p:nvSpPr>
        <p:spPr>
          <a:xfrm>
            <a:off x="2103120" y="3090672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0312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Store / pharmacy</a:t>
            </a:r>
            <a:endParaRPr lang="en-US" sz="1200" dirty="0"/>
          </a:p>
        </p:txBody>
      </p:sp>
      <p:sp>
        <p:nvSpPr>
          <p:cNvPr id="22" name="Arrow"/>
          <p:cNvSpPr/>
          <p:nvPr/>
        </p:nvSpPr>
        <p:spPr>
          <a:xfrm>
            <a:off x="3474720" y="3273552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Flow 2"/>
          <p:cNvSpPr/>
          <p:nvPr/>
        </p:nvSpPr>
        <p:spPr>
          <a:xfrm>
            <a:off x="3749040" y="3090672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4904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Nurse carries</a:t>
            </a:r>
            <a:endParaRPr lang="en-US" sz="1200" dirty="0"/>
          </a:p>
        </p:txBody>
      </p:sp>
      <p:sp>
        <p:nvSpPr>
          <p:cNvPr id="25" name="Arrow"/>
          <p:cNvSpPr/>
          <p:nvPr/>
        </p:nvSpPr>
        <p:spPr>
          <a:xfrm>
            <a:off x="5120640" y="3273552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Flow 3"/>
          <p:cNvSpPr/>
          <p:nvPr/>
        </p:nvSpPr>
        <p:spPr>
          <a:xfrm>
            <a:off x="5394960" y="3090672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9496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Ward</a:t>
            </a:r>
            <a:endParaRPr lang="en-US" sz="1200" dirty="0"/>
          </a:p>
        </p:txBody>
      </p:sp>
      <p:sp>
        <p:nvSpPr>
          <p:cNvPr id="28" name="Arrow"/>
          <p:cNvSpPr/>
          <p:nvPr/>
        </p:nvSpPr>
        <p:spPr>
          <a:xfrm>
            <a:off x="6766560" y="3273552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Flow 4"/>
          <p:cNvSpPr/>
          <p:nvPr/>
        </p:nvSpPr>
        <p:spPr>
          <a:xfrm>
            <a:off x="7040880" y="3090672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40880" y="3090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Walks back</a:t>
            </a:r>
            <a:endParaRPr lang="en-US" sz="1200" dirty="0"/>
          </a:p>
        </p:txBody>
      </p:sp>
      <p:sp>
        <p:nvSpPr>
          <p:cNvPr id="31" name="Problem statement banner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Problem statement: </a:t>
            </a:r>
            <a:r>
              <a:rPr lang="en-US" sz="1600" dirty="0">
                <a:solidFill>
                  <a:schemeClr val="bg1"/>
                </a:solidFill>
              </a:rPr>
              <a:t>hospitals lack an affordable, simple robot that staff can send to a chosen room and call back, without costly mapping, cameras or SLAM.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Existing solutions</a:t>
            </a:r>
            <a:endParaRPr lang="en-US" sz="2800" dirty="0"/>
          </a:p>
        </p:txBody>
      </p:sp>
      <p:graphicFrame>
        <p:nvGraphicFramePr>
          <p:cNvPr id="5" name="Existing solu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Existing solution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Manual delivery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Staff carry items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Slow; uses nurse time; infection risk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Commercial robots (HOSPI, TUG)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Map-based navigation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Proprietary and very costly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Camera / AI robots (YOLOv5, ROS2)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Camera reads room labels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Needs computer and training; complex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Basic line followers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Follow one taped route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One fixed route; no room choice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The gap we address</a:t>
            </a:r>
            <a:endParaRPr lang="en-US" sz="2800" dirty="0"/>
          </a:p>
        </p:txBody>
      </p:sp>
      <p:sp>
        <p:nvSpPr>
          <p:cNvPr id="4" name="Gap card 1"/>
          <p:cNvSpPr/>
          <p:nvPr/>
        </p:nvSpPr>
        <p:spPr>
          <a:xfrm>
            <a:off x="457200" y="1188720"/>
            <a:ext cx="5120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594360" y="13624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1887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Cost: </a:t>
            </a:r>
            <a:r>
              <a:rPr lang="en-US" sz="1400" dirty="0">
                <a:solidFill>
                  <a:schemeClr val="tx1"/>
                </a:solidFill>
              </a:rPr>
              <a:t>Proven hospital robots are proprietary and expensive.</a:t>
            </a:r>
            <a:endParaRPr lang="en-US" sz="1400" dirty="0"/>
          </a:p>
        </p:txBody>
      </p:sp>
      <p:sp>
        <p:nvSpPr>
          <p:cNvPr id="8" name="Gap card 2"/>
          <p:cNvSpPr/>
          <p:nvPr/>
        </p:nvSpPr>
        <p:spPr>
          <a:xfrm>
            <a:off x="457200" y="2011680"/>
            <a:ext cx="5120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594360" y="21854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0116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Complexity: </a:t>
            </a:r>
            <a:r>
              <a:rPr lang="en-US" sz="1400" dirty="0">
                <a:solidFill>
                  <a:schemeClr val="tx1"/>
                </a:solidFill>
              </a:rPr>
              <a:t>Camera, SLAM and ROS need computing, mapping and skilled set-up.</a:t>
            </a:r>
            <a:endParaRPr lang="en-US" sz="1400" dirty="0"/>
          </a:p>
        </p:txBody>
      </p:sp>
      <p:sp>
        <p:nvSpPr>
          <p:cNvPr id="12" name="Gap card 3"/>
          <p:cNvSpPr/>
          <p:nvPr/>
        </p:nvSpPr>
        <p:spPr>
          <a:xfrm>
            <a:off x="457200" y="2834640"/>
            <a:ext cx="5120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/>
          <p:nvPr/>
        </p:nvSpPr>
        <p:spPr>
          <a:xfrm>
            <a:off x="594360" y="30083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3464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Usability: </a:t>
            </a:r>
            <a:r>
              <a:rPr lang="en-US" sz="1400" dirty="0">
                <a:solidFill>
                  <a:schemeClr val="tx1"/>
                </a:solidFill>
              </a:rPr>
              <a:t>Simple route robots cannot pick one of several rooms and return on command.</a:t>
            </a:r>
            <a:endParaRPr lang="en-US" sz="1400" dirty="0"/>
          </a:p>
        </p:txBody>
      </p:sp>
      <p:sp>
        <p:nvSpPr>
          <p:cNvPr id="16" name="Gap card 4"/>
          <p:cNvSpPr/>
          <p:nvPr/>
        </p:nvSpPr>
        <p:spPr>
          <a:xfrm>
            <a:off x="457200" y="3657600"/>
            <a:ext cx="5120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/>
          <p:nvPr/>
        </p:nvSpPr>
        <p:spPr>
          <a:xfrm>
            <a:off x="594360" y="383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576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Safety: </a:t>
            </a:r>
            <a:r>
              <a:rPr lang="en-US" sz="1400" dirty="0">
                <a:solidFill>
                  <a:schemeClr val="tx1"/>
                </a:solidFill>
              </a:rPr>
              <a:t>Low-cost robots usually sense obstacles only ahead, leaving return travel unprotected.</a:t>
            </a:r>
            <a:endParaRPr lang="en-US" sz="1400" dirty="0"/>
          </a:p>
        </p:txBody>
      </p:sp>
      <p:sp>
        <p:nvSpPr>
          <p:cNvPr id="20" name="Missing panel"/>
          <p:cNvSpPr/>
          <p:nvPr/>
        </p:nvSpPr>
        <p:spPr>
          <a:xfrm>
            <a:off x="5852160" y="1188720"/>
            <a:ext cx="2834640" cy="3182112"/>
          </a:xfrm>
          <a:prstGeom prst="roundRect">
            <a:avLst>
              <a:gd name="adj" fmla="val 3871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is missing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182880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low-cost robot that reaches a chosen room and returns home, safe in both directions.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Our solution: how it works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457200" y="11430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  Select room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286000" y="1463040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tep 2"/>
          <p:cNvSpPr/>
          <p:nvPr/>
        </p:nvSpPr>
        <p:spPr>
          <a:xfrm>
            <a:off x="2560320" y="11430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  Count columns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389120" y="1463040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tep 3"/>
          <p:cNvSpPr/>
          <p:nvPr/>
        </p:nvSpPr>
        <p:spPr>
          <a:xfrm>
            <a:off x="4663440" y="11430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6344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 Turn into room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6492240" y="1463040"/>
            <a:ext cx="2743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tep 4"/>
          <p:cNvSpPr/>
          <p:nvPr/>
        </p:nvSpPr>
        <p:spPr>
          <a:xfrm>
            <a:off x="6766560" y="11430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6656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 Return Home</a:t>
            </a:r>
            <a:endParaRPr lang="en-US" sz="1400" dirty="0"/>
          </a:p>
        </p:txBody>
      </p:sp>
      <p:sp>
        <p:nvSpPr>
          <p:cNvPr id="15" name="Track panel"/>
          <p:cNvSpPr/>
          <p:nvPr/>
        </p:nvSpPr>
        <p:spPr>
          <a:xfrm>
            <a:off x="457200" y="2011680"/>
            <a:ext cx="48463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Main path"/>
          <p:cNvSpPr/>
          <p:nvPr/>
        </p:nvSpPr>
        <p:spPr>
          <a:xfrm>
            <a:off x="1234440" y="3310128"/>
            <a:ext cx="3749040" cy="91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Column 1"/>
          <p:cNvSpPr/>
          <p:nvPr/>
        </p:nvSpPr>
        <p:spPr>
          <a:xfrm>
            <a:off x="2057400" y="2697480"/>
            <a:ext cx="91440" cy="13716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Room 2"/>
          <p:cNvSpPr/>
          <p:nvPr/>
        </p:nvSpPr>
        <p:spPr>
          <a:xfrm>
            <a:off x="1691640" y="224028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9164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2</a:t>
            </a:r>
            <a:endParaRPr lang="en-US" sz="1300" dirty="0"/>
          </a:p>
        </p:txBody>
      </p:sp>
      <p:sp>
        <p:nvSpPr>
          <p:cNvPr id="20" name="Room 1"/>
          <p:cNvSpPr/>
          <p:nvPr/>
        </p:nvSpPr>
        <p:spPr>
          <a:xfrm>
            <a:off x="1691640" y="4133088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691640" y="4133088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1</a:t>
            </a:r>
            <a:endParaRPr lang="en-US" sz="1300" dirty="0"/>
          </a:p>
        </p:txBody>
      </p:sp>
      <p:sp>
        <p:nvSpPr>
          <p:cNvPr id="22" name="Column 2"/>
          <p:cNvSpPr/>
          <p:nvPr/>
        </p:nvSpPr>
        <p:spPr>
          <a:xfrm>
            <a:off x="3154680" y="2697480"/>
            <a:ext cx="91440" cy="13716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Room 4"/>
          <p:cNvSpPr/>
          <p:nvPr/>
        </p:nvSpPr>
        <p:spPr>
          <a:xfrm>
            <a:off x="2788920" y="224028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8892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4</a:t>
            </a:r>
            <a:endParaRPr lang="en-US" sz="1300" dirty="0"/>
          </a:p>
        </p:txBody>
      </p:sp>
      <p:sp>
        <p:nvSpPr>
          <p:cNvPr id="25" name="Room 3"/>
          <p:cNvSpPr/>
          <p:nvPr/>
        </p:nvSpPr>
        <p:spPr>
          <a:xfrm>
            <a:off x="2788920" y="4133088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788920" y="4133088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3</a:t>
            </a:r>
            <a:endParaRPr lang="en-US" sz="1300" dirty="0"/>
          </a:p>
        </p:txBody>
      </p:sp>
      <p:sp>
        <p:nvSpPr>
          <p:cNvPr id="27" name="Column 3"/>
          <p:cNvSpPr/>
          <p:nvPr/>
        </p:nvSpPr>
        <p:spPr>
          <a:xfrm>
            <a:off x="4251960" y="2697480"/>
            <a:ext cx="91440" cy="13716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8" name="Room 6"/>
          <p:cNvSpPr/>
          <p:nvPr/>
        </p:nvSpPr>
        <p:spPr>
          <a:xfrm>
            <a:off x="3886200" y="2240280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8620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6</a:t>
            </a:r>
            <a:endParaRPr lang="en-US" sz="1300" dirty="0"/>
          </a:p>
        </p:txBody>
      </p:sp>
      <p:sp>
        <p:nvSpPr>
          <p:cNvPr id="30" name="Room 5"/>
          <p:cNvSpPr/>
          <p:nvPr/>
        </p:nvSpPr>
        <p:spPr>
          <a:xfrm>
            <a:off x="3886200" y="4133088"/>
            <a:ext cx="822960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86200" y="4133088"/>
            <a:ext cx="822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5</a:t>
            </a:r>
            <a:endParaRPr lang="en-US" sz="1300" dirty="0"/>
          </a:p>
        </p:txBody>
      </p:sp>
      <p:sp>
        <p:nvSpPr>
          <p:cNvPr id="32" name="Home"/>
          <p:cNvSpPr/>
          <p:nvPr/>
        </p:nvSpPr>
        <p:spPr>
          <a:xfrm>
            <a:off x="548640" y="3108960"/>
            <a:ext cx="64008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3108960"/>
            <a:ext cx="6400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Home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9436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Even rooms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turn left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Odd rooms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turn right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577840" y="20574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path IR sensor counts each column as the robot drives forward.</a:t>
            </a:r>
            <a:endParaRPr lang="en-US" sz="1400" dirty="0"/>
          </a:p>
          <a:p>
            <a:pPr marL="177800" indent="-177800" algn="just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the selected column it turns right (odd room) or left (even room) into the room.</a:t>
            </a:r>
            <a:endParaRPr lang="en-US" sz="1400" dirty="0"/>
          </a:p>
          <a:p>
            <a:pPr marL="177800" indent="-177800" algn="just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 and back IR sensors stop it for obstacles; it resumes when clear.</a:t>
            </a:r>
            <a:endParaRPr lang="en-US" sz="1400" dirty="0"/>
          </a:p>
          <a:p>
            <a:pPr marL="177800" indent="-177800" algn="just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Home switch: it reverses and takes the opposite turn back.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Node"/>
          <p:cNvSpPr/>
          <p:nvPr/>
        </p:nvSpPr>
        <p:spPr>
          <a:xfrm>
            <a:off x="54864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Room selector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7 push buttons (6 rooms + Home)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926080" y="160020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"/>
          <p:cNvSpPr/>
          <p:nvPr/>
        </p:nvSpPr>
        <p:spPr>
          <a:xfrm>
            <a:off x="548640" y="21945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Path IR sensor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reflective, digital output;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counts tape columns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926080" y="26060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"/>
          <p:cNvSpPr/>
          <p:nvPr/>
        </p:nvSpPr>
        <p:spPr>
          <a:xfrm>
            <a:off x="548640" y="32004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Obstacle IR sensors x2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front and back, digital output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29260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Controller"/>
          <p:cNvSpPr/>
          <p:nvPr/>
        </p:nvSpPr>
        <p:spPr>
          <a:xfrm>
            <a:off x="3291840" y="118872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1188720"/>
            <a:ext cx="25603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/>
            <a:r>
              <a:rPr lang="en-US" sz="1600" b="1" dirty="0"/>
              <a:t>Arduino UNO</a:t>
            </a:r>
            <a:endParaRPr lang="en-US" sz="1600" dirty="0"/>
          </a:p>
          <a:p>
            <a:pPr algn="ctr"/>
            <a:r>
              <a:rPr lang="en-US" sz="1400" dirty="0"/>
              <a:t>zone selection, column counting,</a:t>
            </a:r>
            <a:endParaRPr lang="en-US" sz="1600" dirty="0"/>
          </a:p>
          <a:p>
            <a:pPr algn="ctr"/>
            <a:r>
              <a:rPr lang="en-US" sz="1400" dirty="0"/>
              <a:t>turning, obstacle logic</a:t>
            </a:r>
            <a:endParaRPr lang="en-US" sz="1600" dirty="0"/>
          </a:p>
        </p:txBody>
      </p:sp>
      <p:sp>
        <p:nvSpPr>
          <p:cNvPr id="15" name="Node"/>
          <p:cNvSpPr/>
          <p:nvPr/>
        </p:nvSpPr>
        <p:spPr>
          <a:xfrm>
            <a:off x="6217920" y="118872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I2C LCD 16x2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room, column count, status</a:t>
            </a:r>
            <a:endParaRPr lang="en-US" sz="1300" dirty="0"/>
          </a:p>
        </p:txBody>
      </p:sp>
      <p:sp>
        <p:nvSpPr>
          <p:cNvPr id="17" name="Node"/>
          <p:cNvSpPr/>
          <p:nvPr/>
        </p:nvSpPr>
        <p:spPr>
          <a:xfrm>
            <a:off x="6217920" y="219456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Dual H-bridge driver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direction + PWM speed</a:t>
            </a:r>
            <a:endParaRPr lang="en-US" sz="1300" dirty="0"/>
          </a:p>
        </p:txBody>
      </p:sp>
      <p:sp>
        <p:nvSpPr>
          <p:cNvPr id="19" name="Node"/>
          <p:cNvSpPr/>
          <p:nvPr/>
        </p:nvSpPr>
        <p:spPr>
          <a:xfrm>
            <a:off x="6217920" y="32004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 x 12 V DC gear motors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rear drive wheels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5852160" y="160020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5852160" y="26060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7406640" y="2880360"/>
            <a:ext cx="0" cy="2286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Battery"/>
          <p:cNvSpPr/>
          <p:nvPr/>
        </p:nvSpPr>
        <p:spPr>
          <a:xfrm>
            <a:off x="3291840" y="413308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CEBC4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9184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Rechargeable battery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 flipV="1">
            <a:off x="4572000" y="4023360"/>
            <a:ext cx="0" cy="10972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Drive mechanism</a:t>
            </a:r>
            <a:endParaRPr lang="en-US" sz="2800" dirty="0"/>
          </a:p>
        </p:txBody>
      </p:sp>
      <p:sp>
        <p:nvSpPr>
          <p:cNvPr id="4" name="Wheel photo card"/>
          <p:cNvSpPr/>
          <p:nvPr/>
        </p:nvSpPr>
        <p:spPr>
          <a:xfrm>
            <a:off x="457200" y="118872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pic>
        <p:nvPicPr>
          <p:cNvPr id="5" name="Image 0" descr="Ball-transfer wheel used at the front of the 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2468880" cy="20848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Front ball-transfer wheel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Passive and omnidirectional: no steering part needed.</a:t>
            </a:r>
            <a:endParaRPr lang="en-US" sz="1400" dirty="0"/>
          </a:p>
        </p:txBody>
      </p:sp>
      <p:sp>
        <p:nvSpPr>
          <p:cNvPr id="8" name="Schematic card"/>
          <p:cNvSpPr/>
          <p:nvPr/>
        </p:nvSpPr>
        <p:spPr>
          <a:xfrm>
            <a:off x="3383280" y="1188720"/>
            <a:ext cx="2468880" cy="34290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383280" y="1261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FRONT</a:t>
            </a:r>
            <a:endParaRPr lang="en-US" sz="1100" dirty="0"/>
          </a:p>
        </p:txBody>
      </p:sp>
      <p:sp>
        <p:nvSpPr>
          <p:cNvPr id="10" name="Robot body (top view)"/>
          <p:cNvSpPr/>
          <p:nvPr/>
        </p:nvSpPr>
        <p:spPr>
          <a:xfrm>
            <a:off x="4023360" y="1600200"/>
            <a:ext cx="1188720" cy="237744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Ball wheel"/>
          <p:cNvSpPr/>
          <p:nvPr/>
        </p:nvSpPr>
        <p:spPr>
          <a:xfrm>
            <a:off x="4434840" y="1737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0233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Ball wheel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and battery</a:t>
            </a:r>
            <a:endParaRPr lang="en-US" sz="1100" dirty="0"/>
          </a:p>
        </p:txBody>
      </p:sp>
      <p:sp>
        <p:nvSpPr>
          <p:cNvPr id="14" name="Left rear wheel"/>
          <p:cNvSpPr/>
          <p:nvPr/>
        </p:nvSpPr>
        <p:spPr>
          <a:xfrm>
            <a:off x="3822192" y="3200400"/>
            <a:ext cx="201168" cy="640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5" name="Right rear wheel"/>
          <p:cNvSpPr/>
          <p:nvPr/>
        </p:nvSpPr>
        <p:spPr>
          <a:xfrm>
            <a:off x="5212080" y="3200400"/>
            <a:ext cx="201168" cy="640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02336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M1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75488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M2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3383280" y="4251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Top view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080760" y="1234440"/>
            <a:ext cx="2606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rear 12 V DC gear motors (M1, M2) drive the robot.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direction and speed: straight or reverse.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400" dirty="0"/>
              <a:t>Opposite directions: robot rotates on the spot into the room. 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IN" sz="1400" dirty="0"/>
              <a:t>Front ball wheel only supports the load; the rear motors control the direction.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Technical specifications</a:t>
            </a:r>
            <a:endParaRPr lang="en-US" sz="2800" dirty="0"/>
          </a:p>
        </p:txBody>
      </p:sp>
      <p:graphicFrame>
        <p:nvGraphicFramePr>
          <p:cNvPr id="10" name="Specific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65627"/>
              </p:ext>
            </p:extLst>
          </p:nvPr>
        </p:nvGraphicFramePr>
        <p:xfrm>
          <a:off x="457200" y="1143000"/>
          <a:ext cx="8229600" cy="34564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Subsystem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Controller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Arduino UNO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Path sensing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1 IR sensor, digital output, 3.3 to 5 V; counts tape columns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Obstacle sensing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2 IR sensors (front and back), digital output, 3.3 to 5 V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Drive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2 rear 12 V DC gear motors, front ball-transfer wheel, dual-channel driver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Room input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7 push buttons: rooms 1 to 6 and Home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Display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16x2 LCD with I2C interface, 5 V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Rechargeable battery for motors and electronics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Structure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Two-tier lightweight chassis with enclosed supply compartment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new: the innovations</a:t>
            </a:r>
            <a:endParaRPr lang="en-US" sz="2800" dirty="0"/>
          </a:p>
        </p:txBody>
      </p:sp>
      <p:sp>
        <p:nvSpPr>
          <p:cNvPr id="4" name="Innovation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Column-count navigation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105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IR sensor counts floor columns to find the room.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Replaces: camera, SLAM, sensor array</a:t>
            </a:r>
            <a:endParaRPr lang="en-US" sz="1200" dirty="0"/>
          </a:p>
        </p:txBody>
      </p:sp>
      <p:sp>
        <p:nvSpPr>
          <p:cNvPr id="10" name="Innovation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Badge 2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76672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Room-to-turn rule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105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Column number sets the distance; odd or even room sets right or left turn.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Replaces: map-based path planning</a:t>
            </a:r>
            <a:endParaRPr lang="en-US" sz="1200" dirty="0"/>
          </a:p>
        </p:txBody>
      </p:sp>
      <p:sp>
        <p:nvSpPr>
          <p:cNvPr id="16" name="Innovation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Badge 3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70432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Stored-room return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5021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robot remembers its room, reverses and takes the opposite turn Home.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087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Replaces: stored map and route planner</a:t>
            </a:r>
            <a:endParaRPr lang="en-US" sz="1200" dirty="0"/>
          </a:p>
        </p:txBody>
      </p:sp>
      <p:sp>
        <p:nvSpPr>
          <p:cNvPr id="22" name="Innovation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DECE6"/>
          </a:solidFill>
          <a:ln/>
        </p:spPr>
      </p:sp>
      <p:sp>
        <p:nvSpPr>
          <p:cNvPr id="23" name="Badge 4"/>
          <p:cNvSpPr/>
          <p:nvPr/>
        </p:nvSpPr>
        <p:spPr>
          <a:xfrm>
            <a:off x="4846320" y="3017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376672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Two-way obstacle guard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35021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Front and back IR sensors protect outward and return travel; it resumes when clear.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4087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Replaces: forward-only sensing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Why this can be patented</a:t>
            </a:r>
            <a:endParaRPr lang="en-US" sz="2800" dirty="0"/>
          </a:p>
        </p:txBody>
      </p:sp>
      <p:sp>
        <p:nvSpPr>
          <p:cNvPr id="4" name="Criterion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Novelty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27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Column counting, room-based turn and stored-room return, combined in one hospital robot.</a:t>
            </a:r>
            <a:endParaRPr lang="en-US" sz="1400" dirty="0"/>
          </a:p>
        </p:txBody>
      </p:sp>
      <p:sp>
        <p:nvSpPr>
          <p:cNvPr id="8" name="Criterion 2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Inventive step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27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IR sensor reaches a chosen room; known robots need cameras, SLAM or arrays.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1396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Argument: simpler, cheaper result</a:t>
            </a:r>
            <a:endParaRPr lang="en-US" sz="1200" dirty="0"/>
          </a:p>
        </p:txBody>
      </p:sp>
      <p:sp>
        <p:nvSpPr>
          <p:cNvPr id="12" name="Criterion 3"/>
          <p:cNvSpPr/>
          <p:nvPr/>
        </p:nvSpPr>
        <p:spPr>
          <a:xfrm>
            <a:off x="457200" y="25603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Industrial use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9900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Built as a working prototype; usable in hospitals, labs and isolation wards.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027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Evidence: working prototype</a:t>
            </a:r>
            <a:endParaRPr lang="en-US" sz="1200" dirty="0"/>
          </a:p>
        </p:txBody>
      </p:sp>
      <p:sp>
        <p:nvSpPr>
          <p:cNvPr id="16" name="Criterion 4"/>
          <p:cNvSpPr/>
          <p:nvPr/>
        </p:nvSpPr>
        <p:spPr>
          <a:xfrm>
            <a:off x="4663440" y="25603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Technical effect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9900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Reaches a room and returns with no mapping, safe in both directions.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6027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Evidence: tested on 3-column 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Draft claims</a:t>
            </a:r>
            <a:endParaRPr lang="en-US" sz="2800" dirty="0"/>
          </a:p>
        </p:txBody>
      </p:sp>
      <p:sp>
        <p:nvSpPr>
          <p:cNvPr id="4" name="Independent claim"/>
          <p:cNvSpPr/>
          <p:nvPr/>
        </p:nvSpPr>
        <p:spPr>
          <a:xfrm>
            <a:off x="457200" y="1188720"/>
            <a:ext cx="52120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Independent claim (draft): a delivery robot comprising</a:t>
            </a:r>
            <a:endParaRPr lang="en-US" sz="1500" dirty="0"/>
          </a:p>
        </p:txBody>
      </p:sp>
      <p:sp>
        <p:nvSpPr>
          <p:cNvPr id="6" name="Badge a"/>
          <p:cNvSpPr/>
          <p:nvPr/>
        </p:nvSpPr>
        <p:spPr>
          <a:xfrm>
            <a:off x="640080" y="166420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6459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chassis with two rear drive motors and a front ball-transfer wheel</a:t>
            </a:r>
            <a:endParaRPr lang="en-US" sz="1400" dirty="0"/>
          </a:p>
        </p:txBody>
      </p:sp>
      <p:sp>
        <p:nvSpPr>
          <p:cNvPr id="9" name="Badge b"/>
          <p:cNvSpPr/>
          <p:nvPr/>
        </p:nvSpPr>
        <p:spPr>
          <a:xfrm>
            <a:off x="640080" y="227685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258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room selector</a:t>
            </a:r>
            <a:endParaRPr lang="en-US" sz="1400" dirty="0"/>
          </a:p>
        </p:txBody>
      </p:sp>
      <p:sp>
        <p:nvSpPr>
          <p:cNvPr id="12" name="Badge c"/>
          <p:cNvSpPr/>
          <p:nvPr/>
        </p:nvSpPr>
        <p:spPr>
          <a:xfrm>
            <a:off x="640080" y="268833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6700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path IR sensor facing the floor</a:t>
            </a:r>
            <a:endParaRPr lang="en-US" sz="1400" dirty="0"/>
          </a:p>
        </p:txBody>
      </p:sp>
      <p:sp>
        <p:nvSpPr>
          <p:cNvPr id="15" name="Badge d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front and back obstacle IR sensors</a:t>
            </a:r>
            <a:endParaRPr lang="en-US" sz="1400" dirty="0"/>
          </a:p>
        </p:txBody>
      </p:sp>
      <p:sp>
        <p:nvSpPr>
          <p:cNvPr id="18" name="Badge e"/>
          <p:cNvSpPr/>
          <p:nvPr/>
        </p:nvSpPr>
        <p:spPr>
          <a:xfrm>
            <a:off x="640080" y="351129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4930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controller that counts path columns, turns at the selected room's column to a side set by the room number, stores the room, and on a return command reverses and turns the opposite way</a:t>
            </a:r>
            <a:endParaRPr lang="en-US" sz="1400" dirty="0"/>
          </a:p>
        </p:txBody>
      </p:sp>
      <p:sp>
        <p:nvSpPr>
          <p:cNvPr id="21" name="Dependent claims"/>
          <p:cNvSpPr/>
          <p:nvPr/>
        </p:nvSpPr>
        <p:spPr>
          <a:xfrm>
            <a:off x="5852160" y="1188720"/>
            <a:ext cx="2834640" cy="3429000"/>
          </a:xfrm>
          <a:prstGeom prst="roundRect">
            <a:avLst>
              <a:gd name="adj" fmla="val 3871"/>
            </a:avLst>
          </a:prstGeom>
          <a:solidFill>
            <a:srgbClr val="FDEC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Dependent claims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173736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 and resume on obstacle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Seven-switch room selector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I2C LCD status display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 ball-transfer wheel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Website dispatch request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 claim for the same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Compared with existing systems</a:t>
            </a:r>
            <a:endParaRPr lang="en-US" sz="2800" dirty="0"/>
          </a:p>
        </p:txBody>
      </p:sp>
      <p:graphicFrame>
        <p:nvGraphicFramePr>
          <p:cNvPr id="1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284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Commercial robots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Camera / SLAM robots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This robot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57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High, proprietary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High (camera, computer)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Low: about Rs. 2,870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Navigation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Maps and sensors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Camera, AI, SLAM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One IR sensor, column count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Controller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Embedded computer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PC or ROS2 board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ATmega328P (Arduino UNO)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Room choice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Software destinations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Label recognition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Six room buttons plus Home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Return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Planned route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Planned route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Reverse, stored room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32B"/>
                          </a:solidFill>
                        </a:rPr>
                        <a:t>Set-up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Mapping and tuning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</a:rPr>
                        <a:t>Training and mapping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Tape columns on floor</a:t>
                      </a:r>
                      <a:endParaRPr lang="en-US" sz="1400" dirty="0"/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Prototype: proof it works</a:t>
            </a:r>
            <a:endParaRPr lang="en-US" sz="2800" dirty="0"/>
          </a:p>
        </p:txBody>
      </p:sp>
      <p:sp>
        <p:nvSpPr>
          <p:cNvPr id="4" name="Photo card 1"/>
          <p:cNvSpPr/>
          <p:nvPr/>
        </p:nvSpPr>
        <p:spPr>
          <a:xfrm>
            <a:off x="457200" y="11887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pic>
        <p:nvPicPr>
          <p:cNvPr id="5" name="Image 0" descr="Prototype on test tra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7" y="1280160"/>
            <a:ext cx="2372066" cy="1874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Prototype on test track</a:t>
            </a:r>
            <a:endParaRPr lang="en-US" sz="1100" dirty="0"/>
          </a:p>
        </p:txBody>
      </p:sp>
      <p:sp>
        <p:nvSpPr>
          <p:cNvPr id="7" name="Photo card 2"/>
          <p:cNvSpPr/>
          <p:nvPr/>
        </p:nvSpPr>
        <p:spPr>
          <a:xfrm>
            <a:off x="3246120" y="11887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pic>
        <p:nvPicPr>
          <p:cNvPr id="8" name="Image 1" descr="Prototype, isometric 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91590"/>
            <a:ext cx="2468880" cy="18516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4612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Prototype, isometric view</a:t>
            </a:r>
            <a:endParaRPr lang="en-US" sz="1100" dirty="0"/>
          </a:p>
        </p:txBody>
      </p:sp>
      <p:sp>
        <p:nvSpPr>
          <p:cNvPr id="10" name="Photo card 3"/>
          <p:cNvSpPr/>
          <p:nvPr/>
        </p:nvSpPr>
        <p:spPr>
          <a:xfrm>
            <a:off x="6035040" y="11887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pic>
        <p:nvPicPr>
          <p:cNvPr id="11" name="Image 2" descr="3D CAD mod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389" y="1280160"/>
            <a:ext cx="2033061" cy="18745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03504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3D CAD model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Functions tested on the 3-column track</a:t>
            </a:r>
            <a:endParaRPr lang="en-US" sz="1300" dirty="0"/>
          </a:p>
        </p:txBody>
      </p:sp>
      <p:sp>
        <p:nvSpPr>
          <p:cNvPr id="14" name="Tested 1"/>
          <p:cNvSpPr/>
          <p:nvPr/>
        </p:nvSpPr>
        <p:spPr>
          <a:xfrm>
            <a:off x="457200" y="39776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457200" y="397764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Room selection</a:t>
            </a:r>
            <a:endParaRPr lang="en-US" sz="1200" dirty="0"/>
          </a:p>
        </p:txBody>
      </p:sp>
      <p:sp>
        <p:nvSpPr>
          <p:cNvPr id="16" name="Tested 2"/>
          <p:cNvSpPr/>
          <p:nvPr/>
        </p:nvSpPr>
        <p:spPr>
          <a:xfrm>
            <a:off x="2121408" y="39776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2121408" y="397764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Column detection</a:t>
            </a:r>
            <a:endParaRPr lang="en-US" sz="1200" dirty="0"/>
          </a:p>
        </p:txBody>
      </p:sp>
      <p:sp>
        <p:nvSpPr>
          <p:cNvPr id="18" name="Tested 3"/>
          <p:cNvSpPr/>
          <p:nvPr/>
        </p:nvSpPr>
        <p:spPr>
          <a:xfrm>
            <a:off x="3785616" y="39776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3785616" y="397764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Room turning</a:t>
            </a:r>
            <a:endParaRPr lang="en-US" sz="1200" dirty="0"/>
          </a:p>
        </p:txBody>
      </p:sp>
      <p:sp>
        <p:nvSpPr>
          <p:cNvPr id="20" name="Tested 4"/>
          <p:cNvSpPr/>
          <p:nvPr/>
        </p:nvSpPr>
        <p:spPr>
          <a:xfrm>
            <a:off x="5449824" y="39776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449824" y="397764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Obstacle stop</a:t>
            </a:r>
            <a:endParaRPr lang="en-US" sz="1200" dirty="0"/>
          </a:p>
        </p:txBody>
      </p:sp>
      <p:sp>
        <p:nvSpPr>
          <p:cNvPr id="22" name="Tested 5"/>
          <p:cNvSpPr/>
          <p:nvPr/>
        </p:nvSpPr>
        <p:spPr>
          <a:xfrm>
            <a:off x="7114032" y="3977640"/>
            <a:ext cx="15544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114032" y="3977640"/>
            <a:ext cx="15544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Return Home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Next steps and questions</a:t>
            </a:r>
            <a:endParaRPr lang="en-US" sz="2800" dirty="0"/>
          </a:p>
        </p:txBody>
      </p:sp>
      <p:sp>
        <p:nvSpPr>
          <p:cNvPr id="4" name="Next steps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the prior-art search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Finalise drawings from CAD and circuit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Draft claims with the patent agent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Decide filing route and timing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Link the MediRoute website to the robot</a:t>
            </a:r>
            <a:endParaRPr lang="en-US" sz="1600" dirty="0"/>
          </a:p>
        </p:txBody>
      </p:sp>
      <p:sp>
        <p:nvSpPr>
          <p:cNvPr id="7" name="Questions for the expert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DECE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Questions for the expert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8288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features make the strongest claims?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Claim a system, a method, or both?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the room-to-turn rule with stored-room return patentable?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do we handle public disclosure before filing?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 and guidance are welcome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Mechanical Engineering, KIOT Salem</a:t>
            </a:r>
            <a:endParaRPr lang="en-US" sz="1300" dirty="0"/>
          </a:p>
        </p:txBody>
      </p:sp>
      <p:pic>
        <p:nvPicPr>
          <p:cNvPr id="5" name="Image 0" descr="Prototype 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Route Patent">
  <a:themeElements>
    <a:clrScheme name="MediRoute Patent">
      <a:dk1>
        <a:srgbClr val="14232B"/>
      </a:dk1>
      <a:lt1>
        <a:srgbClr val="FFFFFF"/>
      </a:lt1>
      <a:dk2>
        <a:srgbClr val="0B3C49"/>
      </a:dk2>
      <a:lt2>
        <a:srgbClr val="EEF5F4"/>
      </a:lt2>
      <a:accent1>
        <a:srgbClr val="0B7A75"/>
      </a:accent1>
      <a:accent2>
        <a:srgbClr val="E4572E"/>
      </a:accent2>
      <a:accent3>
        <a:srgbClr val="F2A541"/>
      </a:accent3>
      <a:accent4>
        <a:srgbClr val="3D6A8A"/>
      </a:accent4>
      <a:accent5>
        <a:srgbClr val="6B7C85"/>
      </a:accent5>
      <a:accent6>
        <a:srgbClr val="C9DCDA"/>
      </a:accent6>
      <a:hlink>
        <a:srgbClr val="0B7A75"/>
      </a:hlink>
      <a:folHlink>
        <a:srgbClr val="6B7C85"/>
      </a:folHlink>
    </a:clrScheme>
    <a:fontScheme name="MediRoute Pat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1599</Words>
  <Application>Microsoft Office PowerPoint</Application>
  <PresentationFormat>On-screen Show (16:9)</PresentationFormat>
  <Paragraphs>281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MediRoute Patent</vt:lpstr>
      <vt:lpstr>Autonomous Medical Supply Delivery Robot for Hospitals</vt:lpstr>
      <vt:lpstr>What is this project?</vt:lpstr>
      <vt:lpstr>The problem</vt:lpstr>
      <vt:lpstr>Existing solutions</vt:lpstr>
      <vt:lpstr>The gap we address</vt:lpstr>
      <vt:lpstr>Our solution: how it works</vt:lpstr>
      <vt:lpstr>System architecture</vt:lpstr>
      <vt:lpstr>Drive mechanism</vt:lpstr>
      <vt:lpstr>Technical specifications</vt:lpstr>
      <vt:lpstr>What is new: the innovations</vt:lpstr>
      <vt:lpstr>Why this can be patented</vt:lpstr>
      <vt:lpstr>Draft claims</vt:lpstr>
      <vt:lpstr>Compared with existing systems</vt:lpstr>
      <vt:lpstr>Prototype: proof it works</vt:lpstr>
      <vt:lpstr>Next steps and questions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Medical Supply Delivery Robot - IPR Level 1</dc:title>
  <dc:subject>PptxGenJS Presentation</dc:subject>
  <dc:creator>Bhuvanan M</dc:creator>
  <cp:lastModifiedBy>BHUVANAN M</cp:lastModifiedBy>
  <cp:revision>4</cp:revision>
  <dcterms:created xsi:type="dcterms:W3CDTF">2026-10-04T00:51:57Z</dcterms:created>
  <dcterms:modified xsi:type="dcterms:W3CDTF">2026-10-04T01:37:10Z</dcterms:modified>
</cp:coreProperties>
</file>